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Garet" charset="1" panose="00000000000000000000"/>
      <p:regular r:id="rId7"/>
    </p:embeddedFont>
    <p:embeddedFont>
      <p:font typeface="Garet Italics" charset="1" panose="00000000000000000000"/>
      <p:regular r:id="rId8"/>
    </p:embeddedFont>
    <p:embeddedFont>
      <p:font typeface="Amsterdam Three" charset="1" panose="02000500000000000000"/>
      <p:regular r:id="rId9"/>
    </p:embeddedFont>
    <p:embeddedFont>
      <p:font typeface="CMU Serif" charset="1" panose="02000603000000000000"/>
      <p:regular r:id="rId10"/>
    </p:embeddedFont>
    <p:embeddedFont>
      <p:font typeface="Garet Bold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150934" y="8893774"/>
            <a:ext cx="12305233" cy="7638419"/>
          </a:xfrm>
          <a:custGeom>
            <a:avLst/>
            <a:gdLst/>
            <a:ahLst/>
            <a:cxnLst/>
            <a:rect r="r" b="b" t="t" l="l"/>
            <a:pathLst>
              <a:path h="7638419" w="12305233">
                <a:moveTo>
                  <a:pt x="0" y="0"/>
                </a:moveTo>
                <a:lnTo>
                  <a:pt x="12305233" y="0"/>
                </a:lnTo>
                <a:lnTo>
                  <a:pt x="12305233" y="7638420"/>
                </a:lnTo>
                <a:lnTo>
                  <a:pt x="0" y="7638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7" t="0" r="-4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39515" y="421839"/>
            <a:ext cx="519785" cy="391138"/>
          </a:xfrm>
          <a:custGeom>
            <a:avLst/>
            <a:gdLst/>
            <a:ahLst/>
            <a:cxnLst/>
            <a:rect r="r" b="b" t="t" l="l"/>
            <a:pathLst>
              <a:path h="391138" w="519785">
                <a:moveTo>
                  <a:pt x="0" y="0"/>
                </a:moveTo>
                <a:lnTo>
                  <a:pt x="519785" y="0"/>
                </a:lnTo>
                <a:lnTo>
                  <a:pt x="519785" y="391138"/>
                </a:lnTo>
                <a:lnTo>
                  <a:pt x="0" y="391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65358" y="5223702"/>
            <a:ext cx="6933983" cy="1987549"/>
            <a:chOff x="0" y="0"/>
            <a:chExt cx="1826234" cy="5234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6234" cy="523470"/>
            </a:xfrm>
            <a:custGeom>
              <a:avLst/>
              <a:gdLst/>
              <a:ahLst/>
              <a:cxnLst/>
              <a:rect r="r" b="b" t="t" l="l"/>
              <a:pathLst>
                <a:path h="523470" w="1826234">
                  <a:moveTo>
                    <a:pt x="56942" y="0"/>
                  </a:moveTo>
                  <a:lnTo>
                    <a:pt x="1769292" y="0"/>
                  </a:lnTo>
                  <a:cubicBezTo>
                    <a:pt x="1784394" y="0"/>
                    <a:pt x="1798877" y="5999"/>
                    <a:pt x="1809556" y="16678"/>
                  </a:cubicBezTo>
                  <a:cubicBezTo>
                    <a:pt x="1820235" y="27357"/>
                    <a:pt x="1826234" y="41840"/>
                    <a:pt x="1826234" y="56942"/>
                  </a:cubicBezTo>
                  <a:lnTo>
                    <a:pt x="1826234" y="466527"/>
                  </a:lnTo>
                  <a:cubicBezTo>
                    <a:pt x="1826234" y="481629"/>
                    <a:pt x="1820235" y="496113"/>
                    <a:pt x="1809556" y="506792"/>
                  </a:cubicBezTo>
                  <a:cubicBezTo>
                    <a:pt x="1798877" y="517470"/>
                    <a:pt x="1784394" y="523470"/>
                    <a:pt x="1769292" y="523470"/>
                  </a:cubicBezTo>
                  <a:lnTo>
                    <a:pt x="56942" y="523470"/>
                  </a:lnTo>
                  <a:cubicBezTo>
                    <a:pt x="41840" y="523470"/>
                    <a:pt x="27357" y="517470"/>
                    <a:pt x="16678" y="506792"/>
                  </a:cubicBezTo>
                  <a:cubicBezTo>
                    <a:pt x="5999" y="496113"/>
                    <a:pt x="0" y="481629"/>
                    <a:pt x="0" y="466527"/>
                  </a:cubicBezTo>
                  <a:lnTo>
                    <a:pt x="0" y="56942"/>
                  </a:lnTo>
                  <a:cubicBezTo>
                    <a:pt x="0" y="41840"/>
                    <a:pt x="5999" y="27357"/>
                    <a:pt x="16678" y="16678"/>
                  </a:cubicBezTo>
                  <a:cubicBezTo>
                    <a:pt x="27357" y="5999"/>
                    <a:pt x="41840" y="0"/>
                    <a:pt x="56942" y="0"/>
                  </a:cubicBezTo>
                  <a:close/>
                </a:path>
              </a:pathLst>
            </a:custGeom>
            <a:solidFill>
              <a:srgbClr val="AE5D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26234" cy="58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 spc="51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SweetMatch, a Personalized Dessert Recommender Based on Mood &amp; Flavor.</a:t>
              </a:r>
            </a:p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70496" y="7820851"/>
            <a:ext cx="8942910" cy="94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7"/>
              </a:lnSpc>
              <a:spcBef>
                <a:spcPct val="0"/>
              </a:spcBef>
            </a:pPr>
            <a:r>
              <a:rPr lang="en-US" sz="2776" i="true">
                <a:solidFill>
                  <a:srgbClr val="5C2F1E"/>
                </a:solidFill>
                <a:latin typeface="Garet Italics"/>
                <a:ea typeface="Garet Italics"/>
                <a:cs typeface="Garet Italics"/>
                <a:sym typeface="Garet Italics"/>
              </a:rPr>
              <a:t>Mood input             Flavor choice           Dessert Recommendation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3154299" y="8076097"/>
            <a:ext cx="597659" cy="0"/>
          </a:xfrm>
          <a:prstGeom prst="line">
            <a:avLst/>
          </a:prstGeom>
          <a:ln cap="flat" w="38100">
            <a:solidFill>
              <a:srgbClr val="5C2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6560755" y="8095147"/>
            <a:ext cx="597659" cy="0"/>
          </a:xfrm>
          <a:prstGeom prst="line">
            <a:avLst/>
          </a:prstGeom>
          <a:ln cap="flat" w="38100">
            <a:solidFill>
              <a:srgbClr val="5C2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214173" y="1262767"/>
            <a:ext cx="7595515" cy="8321780"/>
          </a:xfrm>
          <a:custGeom>
            <a:avLst/>
            <a:gdLst/>
            <a:ahLst/>
            <a:cxnLst/>
            <a:rect r="r" b="b" t="t" l="l"/>
            <a:pathLst>
              <a:path h="8321780" w="7595515">
                <a:moveTo>
                  <a:pt x="0" y="0"/>
                </a:moveTo>
                <a:lnTo>
                  <a:pt x="7595516" y="0"/>
                </a:lnTo>
                <a:lnTo>
                  <a:pt x="7595516" y="8321779"/>
                </a:lnTo>
                <a:lnTo>
                  <a:pt x="0" y="8321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0305" y="436433"/>
            <a:ext cx="8115300" cy="341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0"/>
              </a:lnSpc>
            </a:pPr>
            <a:r>
              <a:rPr lang="en-US" sz="9850">
                <a:solidFill>
                  <a:srgbClr val="AE5D5D"/>
                </a:solidFill>
                <a:latin typeface="Amsterdam Three"/>
                <a:ea typeface="Amsterdam Three"/>
                <a:cs typeface="Amsterdam Three"/>
                <a:sym typeface="Amsterdam Three"/>
              </a:rPr>
              <a:t>Sweet</a:t>
            </a:r>
          </a:p>
          <a:p>
            <a:pPr algn="l">
              <a:lnSpc>
                <a:spcPts val="13790"/>
              </a:lnSpc>
              <a:spcBef>
                <a:spcPct val="0"/>
              </a:spcBef>
            </a:pPr>
            <a:r>
              <a:rPr lang="en-US" sz="9850">
                <a:solidFill>
                  <a:srgbClr val="AE5D5D"/>
                </a:solidFill>
                <a:latin typeface="Amsterdam Three"/>
                <a:ea typeface="Amsterdam Three"/>
                <a:cs typeface="Amsterdam Three"/>
                <a:sym typeface="Amsterdam Three"/>
              </a:rPr>
              <a:t>  Match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972291"/>
            <a:ext cx="8115300" cy="74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34"/>
              </a:lnSpc>
            </a:pPr>
            <a:r>
              <a:rPr lang="en-US" sz="4381" spc="876">
                <a:solidFill>
                  <a:srgbClr val="5C2F1E"/>
                </a:solidFill>
                <a:latin typeface="CMU Serif"/>
                <a:ea typeface="CMU Serif"/>
                <a:cs typeface="CMU Serif"/>
                <a:sym typeface="CMU Serif"/>
              </a:rPr>
              <a:t>Got Room for Dessert?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0583" y="364689"/>
            <a:ext cx="573656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i="true">
                <a:solidFill>
                  <a:srgbClr val="5C2F1E"/>
                </a:solidFill>
                <a:latin typeface="Garet Italics"/>
                <a:ea typeface="Garet Italics"/>
                <a:cs typeface="Garet Italics"/>
                <a:sym typeface="Garet Italics"/>
              </a:rPr>
              <a:t>Peyton Wesley IS 3020 W01</a:t>
            </a:r>
          </a:p>
        </p:txBody>
      </p:sp>
      <p:sp>
        <p:nvSpPr>
          <p:cNvPr name="TextBox 15" id="15"/>
          <p:cNvSpPr txBox="true"/>
          <p:nvPr/>
        </p:nvSpPr>
        <p:spPr>
          <a:xfrm rot="784239">
            <a:off x="10247179" y="4997236"/>
            <a:ext cx="4299264" cy="345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8"/>
              </a:lnSpc>
            </a:pP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Hello! How are you feeling today?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Select your mood (or press q to quit):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a.happy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b.sad/stressed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c.cozy/romantic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d.adventurous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What flavor are you craving?: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a.chocolate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b.fruity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c.creamy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Since you're feeling cozy/romantic, and craving something chocolate , here are some desserts!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How about: Black Forest Cake?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Do you like this suggestion?(y/n)y</a:t>
            </a:r>
          </a:p>
          <a:p>
            <a:pPr algn="ctr">
              <a:lnSpc>
                <a:spcPts val="1628"/>
              </a:lnSpc>
              <a:spcBef>
                <a:spcPct val="0"/>
              </a:spcBef>
            </a:pPr>
          </a:p>
          <a:p>
            <a:pPr algn="ctr">
              <a:lnSpc>
                <a:spcPts val="1628"/>
              </a:lnSpc>
              <a:spcBef>
                <a:spcPct val="0"/>
              </a:spcBef>
            </a:pPr>
            <a:r>
              <a:rPr lang="en-US" b="true" sz="1163">
                <a:solidFill>
                  <a:srgbClr val="5C2F1E"/>
                </a:solidFill>
                <a:latin typeface="Garet Bold"/>
                <a:ea typeface="Garet Bold"/>
                <a:cs typeface="Garet Bold"/>
                <a:sym typeface="Garet Bold"/>
              </a:rPr>
              <a:t>Enjoy your treat!</a:t>
            </a:r>
          </a:p>
        </p:txBody>
      </p:sp>
      <p:sp>
        <p:nvSpPr>
          <p:cNvPr name="TextBox 16" id="16"/>
          <p:cNvSpPr txBox="true"/>
          <p:nvPr/>
        </p:nvSpPr>
        <p:spPr>
          <a:xfrm rot="631889">
            <a:off x="10804220" y="4553956"/>
            <a:ext cx="3396987" cy="50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5"/>
              </a:lnSpc>
              <a:spcBef>
                <a:spcPct val="0"/>
              </a:spcBef>
            </a:pPr>
            <a:r>
              <a:rPr lang="en-US" sz="1496">
                <a:solidFill>
                  <a:srgbClr val="000000"/>
                </a:solidFill>
                <a:latin typeface="CMU Serif"/>
                <a:ea typeface="CMU Serif"/>
                <a:cs typeface="CMU Serif"/>
                <a:sym typeface="CMU Serif"/>
              </a:rPr>
              <a:t>**code output from SweetMatch program**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DAG5W1m3CyA</dc:identifier>
  <dcterms:modified xsi:type="dcterms:W3CDTF">2011-08-01T06:04:30Z</dcterms:modified>
  <cp:revision>1</cp:revision>
  <dc:title>Pink Red and Brown Playful Bakery Marketing Presentation</dc:title>
</cp:coreProperties>
</file>